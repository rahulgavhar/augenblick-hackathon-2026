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4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D60B51-F570-785A-227C-DBC85645ACA0}" v="169" dt="2026-03-14T00:13:54.053"/>
    <p1510:client id="{311F6109-97A9-C27B-BB56-1D8269F3E758}" v="774" dt="2026-03-14T00:13:55.716"/>
    <p1510:client id="{A2C4A882-DF50-7B81-A66B-A45C76628780}" v="318" dt="2026-03-14T00:06:33.4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980D3-C2AB-E33E-72D5-3D3A641AE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5F23D8-EA61-3F1C-B21B-070F968A7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57591-B715-7A4F-E78F-8E8ACA543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2897D-EA50-4F04-90BD-9490B783FBDB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F0C02-0638-8E1E-FBDB-041E67F8E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9ECA6-6F79-8C3E-29CD-8F2DC64A6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F00B9-EB59-4761-8BD8-4FD5F4BF7A3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9496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268B2-D84D-E090-18E2-264F2B755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4E06F-9CEB-5A9A-2F02-390F9177C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644DC-BF9A-D7A6-9E0A-1867051CB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2897D-EA50-4F04-90BD-9490B783FBDB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87390-FE74-A7BB-5088-4E4D93DAA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54049-EB5F-B364-E0C1-7661E3B8E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F00B9-EB59-4761-8BD8-4FD5F4BF7A3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1105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58B2D-146A-E24C-8C52-467F5764F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6D07A-55AC-1AD4-2472-36EC78AE3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74113-82D7-0B61-C00D-062660559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2897D-EA50-4F04-90BD-9490B783FBDB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FBBD9-0847-998B-3798-0E43E0D90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7DE60-29B0-4378-171F-57271EF98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F00B9-EB59-4761-8BD8-4FD5F4BF7A3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0849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9DFB4-CA03-F7EA-E5F5-10492E801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80560-96CC-F8A7-E835-327291591D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D3A23B-26F9-2E80-D402-70C2FF41FA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1F56B5-CE9F-A18D-CAC7-559F9151B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2897D-EA50-4F04-90BD-9490B783FBDB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DCA6C2-2A88-0A47-368B-450843FE4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D0376E-1264-0E36-1EF4-B2374BB8F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F00B9-EB59-4761-8BD8-4FD5F4BF7A3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8745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F17F-E0C5-DAE0-1936-D367C4D94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626555-0E7F-128C-07AE-092F0BE8C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E42B13-BE52-20B6-5C7B-3A9648C835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BAD253-0DAB-2AC9-C7C3-25189C78D6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0F3E3-E346-FFFB-4324-379400A988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31D4C4-6FA1-B249-E37F-2CE453FAD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2897D-EA50-4F04-90BD-9490B783FBDB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A96290-93B5-5416-708F-1EB037FA6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16B252-79C0-1288-EB59-C5ABCE82E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F00B9-EB59-4761-8BD8-4FD5F4BF7A3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3458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5F61F-F187-F31B-12EA-DFF4253F5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4F5ABE-C7B7-10E3-52F3-070399A88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2897D-EA50-4F04-90BD-9490B783FBDB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3028F2-B066-4305-B908-7D9BEF19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C59F4-9706-4683-40D1-1ABB61659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F00B9-EB59-4761-8BD8-4FD5F4BF7A3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9149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2C0529-14A3-00CC-964A-19497CCA4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2897D-EA50-4F04-90BD-9490B783FBDB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C5D5FF-BFBD-F4D5-6879-1EE65E6BD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3335E-A196-46BA-04C1-113B6FFFE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F00B9-EB59-4761-8BD8-4FD5F4BF7A3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360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E023A-410C-37C4-11BA-EBF08EF65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A7A50-93B2-0E64-3CA2-9D2C459D5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63A36C-8D83-51B5-2936-F512827450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92D01B-CD76-6E0A-D429-6198F2C1F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2897D-EA50-4F04-90BD-9490B783FBDB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C5BED5-FDB6-A902-1F28-A89D44691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642C54-B605-6B7B-75A6-5C30DC4F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F00B9-EB59-4761-8BD8-4FD5F4BF7A3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0214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8CC19-87CE-CAA5-925E-3FEE95BA7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837615-C6D8-650A-F8C6-5C5FBBF3CA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B60E77-D874-3767-1A83-DC882F870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7F9AE8-3D51-2027-7D67-0BAC491A4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2897D-EA50-4F04-90BD-9490B783FBDB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92FE7-E640-087A-C542-C2D01A3FE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2FE5A2-B895-D26F-B5EB-5DD9C4D50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F00B9-EB59-4761-8BD8-4FD5F4BF7A3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3473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9E3B5-A217-EBE7-2A8B-047CCCDFD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490075-7CA0-6899-E0B7-E92CAB3510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9FB30-E237-AF82-BD6F-022B87E70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2897D-EA50-4F04-90BD-9490B783FBDB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3FA1C-1D80-A934-7877-4F455F43C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CD5B1-B1B7-371B-4CFC-086EEFB9A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F00B9-EB59-4761-8BD8-4FD5F4BF7A3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6403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803A80-C014-73C6-7F2E-4288A08614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9D8D53-5F07-7BD4-7317-F19AD2D84F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F15F0-C12E-EAC6-EF50-6EB353CA2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2897D-EA50-4F04-90BD-9490B783FBDB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D839C-B094-1AC9-24C4-6F07D35AE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440BD-925E-5DD9-E7F4-350C0DF8A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F00B9-EB59-4761-8BD8-4FD5F4BF7A3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4692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B0494F-3944-7EAC-772E-4BF018475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17A81C-92B8-8EDB-D4FC-C4D2C3A30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F0C26-B5DF-6D5A-6869-70539E0337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D2897D-EA50-4F04-90BD-9490B783FBDB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5B7D0-CF8D-6A68-A605-309BD0F555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DB0AB-444B-BAF2-210D-8E166B0888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9F00B9-EB59-4761-8BD8-4FD5F4BF7A3F}" type="slidenum">
              <a:rPr lang="de-DE" smtClean="0"/>
              <a:t>‹#›</a:t>
            </a:fld>
            <a:endParaRPr lang="de-DE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5B605E7-02F5-7B33-5E9B-706767AE435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069" y="6310312"/>
            <a:ext cx="2899862" cy="365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9445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73F6A-3203-6476-E6D8-08C8C5CCFC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Black Lotus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4120B1-22F5-56A3-7535-615B10B89F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Rahul Gavhar</a:t>
            </a:r>
          </a:p>
          <a:p>
            <a:r>
              <a:rPr lang="en-US"/>
              <a:t>Shubham Gupta</a:t>
            </a:r>
          </a:p>
          <a:p>
            <a:r>
              <a:rPr lang="en-US"/>
              <a:t>Pratik Gupta</a:t>
            </a:r>
          </a:p>
        </p:txBody>
      </p:sp>
    </p:spTree>
    <p:extLst>
      <p:ext uri="{BB962C8B-B14F-4D97-AF65-F5344CB8AC3E}">
        <p14:creationId xmlns:p14="http://schemas.microsoft.com/office/powerpoint/2010/main" val="1690643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FB0A1-3544-E88F-A243-DFBECCFC7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tokens and what is tokenization?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E6698-083D-D865-AA42-CF9C4B087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318" y="1545478"/>
            <a:ext cx="11759452" cy="49452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Tokenization</a:t>
            </a:r>
            <a:br>
              <a:rPr lang="en-US" b="1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• Tokenization splits text into tokens (words, </a:t>
            </a:r>
            <a:r>
              <a:rPr lang="en-US" err="1">
                <a:ea typeface="+mn-lt"/>
                <a:cs typeface="+mn-lt"/>
              </a:rPr>
              <a:t>subwords</a:t>
            </a:r>
            <a:r>
              <a:rPr lang="en-US">
                <a:ea typeface="+mn-lt"/>
                <a:cs typeface="+mn-lt"/>
              </a:rPr>
              <a:t>, characters, or symbols) so models can process language.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Tokens are converted into token IDs (numbers) because ML models operate on numerical data.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Effective tokenization balances efficiency and meaning fewer tokens speed models up while still preserving information.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Challenges</a:t>
            </a:r>
            <a:br>
              <a:rPr lang="en-US" b="1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• Multilingual text: Languages differ in structure (e.g., English uses spaces, while Devanagari scripts use combining characters).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Unseen or rare words: Tokenizers must split them into reusable </a:t>
            </a:r>
            <a:r>
              <a:rPr lang="en-US" err="1">
                <a:ea typeface="+mn-lt"/>
                <a:cs typeface="+mn-lt"/>
              </a:rPr>
              <a:t>subwords</a:t>
            </a:r>
            <a:r>
              <a:rPr lang="en-US">
                <a:ea typeface="+mn-lt"/>
                <a:cs typeface="+mn-lt"/>
              </a:rPr>
              <a:t> instead of producing too many [UNK] tokens.</a:t>
            </a:r>
            <a:endParaRPr lang="en-US"/>
          </a:p>
          <a:p>
            <a:endParaRPr lang="en-US"/>
          </a:p>
          <a:p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90650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38769-4907-3AE5-DC64-D1F374CB4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0B7D3-D01B-179C-AFCD-57F224ABB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515600" cy="1325563"/>
          </a:xfrm>
        </p:spPr>
        <p:txBody>
          <a:bodyPr/>
          <a:lstStyle/>
          <a:p>
            <a:r>
              <a:rPr lang="en-US"/>
              <a:t>Task 3: Comparison of tokens</a:t>
            </a:r>
            <a:endParaRPr lang="de-DE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9631F4-E417-3409-5B0E-5C9D4ADF4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582" y="1691154"/>
            <a:ext cx="5254669" cy="2075777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>
                <a:ea typeface="+mn-lt"/>
                <a:cs typeface="+mn-lt"/>
              </a:rPr>
              <a:t>EN transliteration :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Jana Gana Mana </a:t>
            </a:r>
            <a:r>
              <a:rPr lang="en-US" err="1">
                <a:ea typeface="+mn-lt"/>
                <a:cs typeface="+mn-lt"/>
              </a:rPr>
              <a:t>Adhinayaka</a:t>
            </a:r>
            <a:r>
              <a:rPr lang="en-US">
                <a:ea typeface="+mn-lt"/>
                <a:cs typeface="+mn-lt"/>
              </a:rPr>
              <a:t> Jaya He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Bharata Bhagya Vidhata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Punjab Sindhu Gujarat Maratha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Dravida Utkala Banga</a:t>
            </a:r>
            <a:endParaRPr lang="en-US"/>
          </a:p>
          <a:p>
            <a:pPr>
              <a:buNone/>
            </a:pPr>
            <a:endParaRPr lang="en-US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C2FFAC13-3709-DC46-F789-D0ABD839DA01}"/>
              </a:ext>
            </a:extLst>
          </p:cNvPr>
          <p:cNvSpPr txBox="1">
            <a:spLocks/>
          </p:cNvSpPr>
          <p:nvPr/>
        </p:nvSpPr>
        <p:spPr>
          <a:xfrm>
            <a:off x="6216073" y="1709391"/>
            <a:ext cx="5254669" cy="207577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err="1">
                <a:ea typeface="+mn-lt"/>
                <a:cs typeface="+mn-lt"/>
              </a:rPr>
              <a:t>Devanagri</a:t>
            </a:r>
            <a:r>
              <a:rPr lang="en-US">
                <a:ea typeface="+mn-lt"/>
                <a:cs typeface="+mn-lt"/>
              </a:rPr>
              <a:t> :</a:t>
            </a:r>
          </a:p>
          <a:p>
            <a:pPr>
              <a:buNone/>
            </a:pPr>
            <a:r>
              <a:rPr lang="en-US" err="1">
                <a:latin typeface="Consolas"/>
                <a:ea typeface="+mn-lt"/>
                <a:cs typeface="+mn-lt"/>
              </a:rPr>
              <a:t>जन</a:t>
            </a:r>
            <a:r>
              <a:rPr lang="en-US">
                <a:latin typeface="Consolas"/>
                <a:ea typeface="+mn-lt"/>
                <a:cs typeface="+mn-lt"/>
              </a:rPr>
              <a:t> </a:t>
            </a:r>
            <a:r>
              <a:rPr lang="en-US" err="1">
                <a:latin typeface="Consolas"/>
                <a:ea typeface="+mn-lt"/>
                <a:cs typeface="+mn-lt"/>
              </a:rPr>
              <a:t>गण</a:t>
            </a:r>
            <a:r>
              <a:rPr lang="en-US">
                <a:latin typeface="Consolas"/>
                <a:ea typeface="+mn-lt"/>
                <a:cs typeface="+mn-lt"/>
              </a:rPr>
              <a:t> </a:t>
            </a:r>
            <a:r>
              <a:rPr lang="en-US" err="1">
                <a:latin typeface="Consolas"/>
                <a:ea typeface="+mn-lt"/>
                <a:cs typeface="+mn-lt"/>
              </a:rPr>
              <a:t>मन</a:t>
            </a:r>
            <a:r>
              <a:rPr lang="en-US">
                <a:latin typeface="Consolas"/>
                <a:ea typeface="+mn-lt"/>
                <a:cs typeface="+mn-lt"/>
              </a:rPr>
              <a:t> </a:t>
            </a:r>
            <a:r>
              <a:rPr lang="en-US" err="1">
                <a:latin typeface="Consolas"/>
                <a:ea typeface="+mn-lt"/>
                <a:cs typeface="+mn-lt"/>
              </a:rPr>
              <a:t>अधिनायक</a:t>
            </a:r>
            <a:r>
              <a:rPr lang="en-US">
                <a:latin typeface="Consolas"/>
                <a:ea typeface="+mn-lt"/>
                <a:cs typeface="+mn-lt"/>
              </a:rPr>
              <a:t> </a:t>
            </a:r>
            <a:r>
              <a:rPr lang="en-US" err="1">
                <a:latin typeface="Consolas"/>
                <a:ea typeface="+mn-lt"/>
                <a:cs typeface="+mn-lt"/>
              </a:rPr>
              <a:t>जय</a:t>
            </a:r>
            <a:r>
              <a:rPr lang="en-US">
                <a:latin typeface="Consolas"/>
                <a:ea typeface="+mn-lt"/>
                <a:cs typeface="+mn-lt"/>
              </a:rPr>
              <a:t> </a:t>
            </a:r>
            <a:r>
              <a:rPr lang="en-US" err="1">
                <a:latin typeface="Consolas"/>
                <a:ea typeface="+mn-lt"/>
                <a:cs typeface="+mn-lt"/>
              </a:rPr>
              <a:t>हे</a:t>
            </a:r>
            <a:endParaRPr lang="en-US">
              <a:latin typeface="Consolas"/>
              <a:ea typeface="+mn-lt"/>
              <a:cs typeface="+mn-lt"/>
            </a:endParaRPr>
          </a:p>
          <a:p>
            <a:pPr>
              <a:buNone/>
            </a:pPr>
            <a:r>
              <a:rPr lang="en-US" err="1">
                <a:latin typeface="Consolas"/>
                <a:ea typeface="+mn-lt"/>
                <a:cs typeface="+mn-lt"/>
              </a:rPr>
              <a:t>भारत</a:t>
            </a:r>
            <a:r>
              <a:rPr lang="en-US">
                <a:latin typeface="Consolas"/>
                <a:ea typeface="+mn-lt"/>
                <a:cs typeface="+mn-lt"/>
              </a:rPr>
              <a:t> </a:t>
            </a:r>
            <a:r>
              <a:rPr lang="en-US" err="1">
                <a:latin typeface="Consolas"/>
                <a:ea typeface="+mn-lt"/>
                <a:cs typeface="+mn-lt"/>
              </a:rPr>
              <a:t>भाग्य</a:t>
            </a:r>
            <a:r>
              <a:rPr lang="en-US">
                <a:latin typeface="Consolas"/>
                <a:ea typeface="+mn-lt"/>
                <a:cs typeface="+mn-lt"/>
              </a:rPr>
              <a:t> </a:t>
            </a:r>
            <a:r>
              <a:rPr lang="en-US" err="1">
                <a:latin typeface="Consolas"/>
                <a:ea typeface="+mn-lt"/>
                <a:cs typeface="+mn-lt"/>
              </a:rPr>
              <a:t>विधाता</a:t>
            </a:r>
            <a:endParaRPr lang="en-US">
              <a:latin typeface="Consolas"/>
              <a:ea typeface="+mn-lt"/>
              <a:cs typeface="+mn-lt"/>
            </a:endParaRPr>
          </a:p>
          <a:p>
            <a:pPr>
              <a:buNone/>
            </a:pPr>
            <a:r>
              <a:rPr lang="en-US" err="1">
                <a:latin typeface="Consolas"/>
                <a:ea typeface="+mn-lt"/>
                <a:cs typeface="+mn-lt"/>
              </a:rPr>
              <a:t>पंजाब</a:t>
            </a:r>
            <a:r>
              <a:rPr lang="en-US">
                <a:latin typeface="Consolas"/>
                <a:ea typeface="+mn-lt"/>
                <a:cs typeface="+mn-lt"/>
              </a:rPr>
              <a:t> </a:t>
            </a:r>
            <a:r>
              <a:rPr lang="en-US" err="1">
                <a:latin typeface="Consolas"/>
                <a:ea typeface="+mn-lt"/>
                <a:cs typeface="+mn-lt"/>
              </a:rPr>
              <a:t>सिंधु</a:t>
            </a:r>
            <a:r>
              <a:rPr lang="en-US">
                <a:latin typeface="Consolas"/>
                <a:ea typeface="+mn-lt"/>
                <a:cs typeface="+mn-lt"/>
              </a:rPr>
              <a:t> </a:t>
            </a:r>
            <a:r>
              <a:rPr lang="en-US" err="1">
                <a:latin typeface="Consolas"/>
                <a:ea typeface="+mn-lt"/>
                <a:cs typeface="+mn-lt"/>
              </a:rPr>
              <a:t>गुजरात</a:t>
            </a:r>
            <a:r>
              <a:rPr lang="en-US">
                <a:latin typeface="Consolas"/>
                <a:ea typeface="+mn-lt"/>
                <a:cs typeface="+mn-lt"/>
              </a:rPr>
              <a:t> </a:t>
            </a:r>
            <a:r>
              <a:rPr lang="en-US" err="1">
                <a:latin typeface="Consolas"/>
                <a:ea typeface="+mn-lt"/>
                <a:cs typeface="+mn-lt"/>
              </a:rPr>
              <a:t>मराठा</a:t>
            </a:r>
            <a:endParaRPr lang="en-US">
              <a:latin typeface="Consolas"/>
              <a:ea typeface="+mn-lt"/>
              <a:cs typeface="+mn-lt"/>
            </a:endParaRPr>
          </a:p>
          <a:p>
            <a:pPr>
              <a:buNone/>
            </a:pPr>
            <a:r>
              <a:rPr lang="en-US" err="1">
                <a:latin typeface="Consolas"/>
                <a:ea typeface="+mn-lt"/>
                <a:cs typeface="+mn-lt"/>
              </a:rPr>
              <a:t>द्राविड़</a:t>
            </a:r>
            <a:r>
              <a:rPr lang="en-US">
                <a:latin typeface="Consolas"/>
                <a:ea typeface="+mn-lt"/>
                <a:cs typeface="+mn-lt"/>
              </a:rPr>
              <a:t> </a:t>
            </a:r>
            <a:r>
              <a:rPr lang="en-US" err="1">
                <a:latin typeface="Consolas"/>
                <a:ea typeface="+mn-lt"/>
                <a:cs typeface="+mn-lt"/>
              </a:rPr>
              <a:t>उत्कल</a:t>
            </a:r>
            <a:r>
              <a:rPr lang="en-US">
                <a:latin typeface="Consolas"/>
                <a:ea typeface="+mn-lt"/>
                <a:cs typeface="+mn-lt"/>
              </a:rPr>
              <a:t> </a:t>
            </a:r>
            <a:r>
              <a:rPr lang="en-US" err="1">
                <a:latin typeface="Consolas"/>
                <a:ea typeface="+mn-lt"/>
                <a:cs typeface="+mn-lt"/>
              </a:rPr>
              <a:t>बंग</a:t>
            </a:r>
            <a:endParaRPr lang="en-US"/>
          </a:p>
          <a:p>
            <a:pPr>
              <a:buFont typeface="Arial" panose="020B0604020202020204" pitchFamily="34" charset="0"/>
              <a:buNone/>
            </a:pPr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58861FD-D1A7-31ED-3F38-47996AAC6936}"/>
              </a:ext>
            </a:extLst>
          </p:cNvPr>
          <p:cNvCxnSpPr/>
          <p:nvPr/>
        </p:nvCxnSpPr>
        <p:spPr>
          <a:xfrm flipH="1">
            <a:off x="5543970" y="1555536"/>
            <a:ext cx="825" cy="2119862"/>
          </a:xfrm>
          <a:prstGeom prst="straightConnector1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F8B7221-8B71-428F-FE0A-01CB917430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162587"/>
              </p:ext>
            </p:extLst>
          </p:nvPr>
        </p:nvGraphicFramePr>
        <p:xfrm>
          <a:off x="457200" y="3959038"/>
          <a:ext cx="10515600" cy="194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97288524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5386421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674646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8932040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script</a:t>
                      </a:r>
                      <a:endParaRPr lang="en-US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28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Tokens</a:t>
                      </a:r>
                      <a:endParaRPr lang="en-US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28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Words</a:t>
                      </a:r>
                      <a:endParaRPr lang="en-US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28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Fertility</a:t>
                      </a:r>
                      <a:endParaRPr lang="en-US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28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38776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fontAlgn="base">
                        <a:lnSpc>
                          <a:spcPts val="2400"/>
                        </a:lnSpc>
                        <a:buNone/>
                      </a:pPr>
                      <a:r>
                        <a:rPr lang="en-US" sz="2000">
                          <a:effectLst/>
                          <a:latin typeface="Aptos" panose="020B0004020202020204" pitchFamily="34" charset="0"/>
                        </a:rPr>
                        <a:t>English Transliteration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28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>
                          <a:effectLst/>
                          <a:latin typeface="Aptos" panose="020B0004020202020204" pitchFamily="34" charset="0"/>
                        </a:rPr>
                        <a:t>317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28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>
                          <a:effectLst/>
                          <a:latin typeface="Aptos" panose="020B0004020202020204" pitchFamily="34" charset="0"/>
                        </a:rPr>
                        <a:t>55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28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>
                          <a:effectLst/>
                          <a:latin typeface="Aptos" panose="020B0004020202020204" pitchFamily="34" charset="0"/>
                        </a:rPr>
                        <a:t>5.763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28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53187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fontAlgn="base">
                        <a:lnSpc>
                          <a:spcPts val="2400"/>
                        </a:lnSpc>
                        <a:buNone/>
                      </a:pPr>
                      <a:r>
                        <a:rPr lang="en-US" sz="2000">
                          <a:effectLst/>
                          <a:latin typeface="Aptos" panose="020B0004020202020204" pitchFamily="34" charset="0"/>
                        </a:rPr>
                        <a:t>Devanagari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>
                          <a:effectLst/>
                          <a:latin typeface="Aptos" panose="020B0004020202020204" pitchFamily="34" charset="0"/>
                        </a:rPr>
                        <a:t>227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>
                          <a:effectLst/>
                          <a:latin typeface="Aptos" panose="020B0004020202020204" pitchFamily="34" charset="0"/>
                        </a:rPr>
                        <a:t>55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>
                          <a:effectLst/>
                          <a:latin typeface="Aptos" panose="020B0004020202020204" pitchFamily="34" charset="0"/>
                        </a:rPr>
                        <a:t>4.203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977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1693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243A0-16D7-98DB-0D80-537F001F0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242" y="171942"/>
            <a:ext cx="10515600" cy="670887"/>
          </a:xfrm>
        </p:spPr>
        <p:txBody>
          <a:bodyPr>
            <a:normAutofit fontScale="90000"/>
          </a:bodyPr>
          <a:lstStyle/>
          <a:p>
            <a:r>
              <a:rPr lang="en-US"/>
              <a:t>Task 16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EB2BC-A98E-8D04-224E-09C2C3C85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242" y="848977"/>
            <a:ext cx="4569855" cy="53601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/>
              <a:t>What I found (Confidence Signals)</a:t>
            </a:r>
          </a:p>
          <a:p>
            <a:r>
              <a:rPr lang="en-US" sz="1600">
                <a:ea typeface="+mn-lt"/>
                <a:cs typeface="+mn-lt"/>
              </a:rPr>
              <a:t>Deterministic behavior and artifact discipline:</a:t>
            </a:r>
            <a:endParaRPr lang="en-US" sz="1600"/>
          </a:p>
          <a:p>
            <a:pPr lvl="1"/>
            <a:r>
              <a:rPr lang="en-US" sz="1600" dirty="0">
                <a:ea typeface="+mn-lt"/>
                <a:cs typeface="+mn-lt"/>
              </a:rPr>
              <a:t>Seeded training behavior is validated in tests.</a:t>
            </a:r>
            <a:endParaRPr lang="en-US" sz="1600"/>
          </a:p>
          <a:p>
            <a:pPr lvl="1"/>
            <a:r>
              <a:rPr lang="en-US" sz="1600">
                <a:ea typeface="+mn-lt"/>
                <a:cs typeface="+mn-lt"/>
              </a:rPr>
              <a:t>Artifacts include schema version checks and checksum metadata.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Strong error model:</a:t>
            </a:r>
            <a:endParaRPr lang="en-US" sz="1600"/>
          </a:p>
          <a:p>
            <a:pPr lvl="1"/>
            <a:r>
              <a:rPr lang="en-US" sz="1600" dirty="0">
                <a:ea typeface="+mn-lt"/>
                <a:cs typeface="+mn-lt"/>
              </a:rPr>
              <a:t>Typed custom exceptions make failures observable and </a:t>
            </a:r>
            <a:r>
              <a:rPr lang="en-US" sz="1600" dirty="0" err="1">
                <a:ea typeface="+mn-lt"/>
                <a:cs typeface="+mn-lt"/>
              </a:rPr>
              <a:t>debuggable</a:t>
            </a:r>
            <a:r>
              <a:rPr lang="en-US" sz="1600" dirty="0">
                <a:ea typeface="+mn-lt"/>
                <a:cs typeface="+mn-lt"/>
              </a:rPr>
              <a:t>.</a:t>
            </a:r>
            <a:endParaRPr lang="en-US" sz="1600"/>
          </a:p>
          <a:p>
            <a:pPr lvl="1"/>
            <a:r>
              <a:rPr lang="en-US" sz="1600" dirty="0">
                <a:ea typeface="+mn-lt"/>
                <a:cs typeface="+mn-lt"/>
              </a:rPr>
              <a:t>Config validation (</a:t>
            </a:r>
            <a:r>
              <a:rPr lang="en-US" sz="1600" dirty="0" err="1">
                <a:ea typeface="+mn-lt"/>
                <a:cs typeface="+mn-lt"/>
              </a:rPr>
              <a:t>Pydantic</a:t>
            </a:r>
            <a:r>
              <a:rPr lang="en-US" sz="1600" dirty="0">
                <a:ea typeface="+mn-lt"/>
                <a:cs typeface="+mn-lt"/>
              </a:rPr>
              <a:t>) catches setup issues early.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Good multilingual design choices:</a:t>
            </a:r>
            <a:endParaRPr lang="en-US" sz="1600"/>
          </a:p>
          <a:p>
            <a:pPr lvl="1"/>
            <a:r>
              <a:rPr lang="en-US" sz="1600">
                <a:ea typeface="+mn-lt"/>
                <a:cs typeface="+mn-lt"/>
              </a:rPr>
              <a:t>Devanagari-safe normalization defaults (NFC strategy).</a:t>
            </a:r>
            <a:endParaRPr lang="en-US" sz="1600"/>
          </a:p>
          <a:p>
            <a:pPr lvl="1"/>
            <a:r>
              <a:rPr lang="en-US" sz="1600">
                <a:ea typeface="+mn-lt"/>
                <a:cs typeface="+mn-lt"/>
              </a:rPr>
              <a:t>Streaming-style corpus handling avoids loading entire datasets in memory.</a:t>
            </a:r>
            <a:endParaRPr lang="en-US" sz="1600"/>
          </a:p>
          <a:p>
            <a:endParaRPr lang="en-US" sz="1600" dirty="0"/>
          </a:p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153359E-5908-15EC-A547-73C851128C68}"/>
              </a:ext>
            </a:extLst>
          </p:cNvPr>
          <p:cNvSpPr txBox="1">
            <a:spLocks/>
          </p:cNvSpPr>
          <p:nvPr/>
        </p:nvSpPr>
        <p:spPr>
          <a:xfrm>
            <a:off x="5298847" y="240835"/>
            <a:ext cx="10494723" cy="670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Task 17 and 18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DFDF873-139E-CE35-ED9F-DB6C6713F4BD}"/>
              </a:ext>
            </a:extLst>
          </p:cNvPr>
          <p:cNvSpPr txBox="1">
            <a:spLocks/>
          </p:cNvSpPr>
          <p:nvPr/>
        </p:nvSpPr>
        <p:spPr>
          <a:xfrm>
            <a:off x="5298847" y="853771"/>
            <a:ext cx="6708983" cy="53396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/>
              <a:t>What We Did</a:t>
            </a:r>
            <a:endParaRPr lang="en-US" sz="1600"/>
          </a:p>
          <a:p>
            <a:pPr>
              <a:buFont typeface="Arial"/>
              <a:buChar char="•"/>
            </a:pPr>
            <a:r>
              <a:rPr lang="en-US" sz="1600" b="1"/>
              <a:t>Task</a:t>
            </a:r>
            <a:r>
              <a:rPr lang="en-US" sz="1600" b="1">
                <a:ea typeface="+mn-lt"/>
                <a:cs typeface="+mn-lt"/>
              </a:rPr>
              <a:t> 17:</a:t>
            </a:r>
            <a:r>
              <a:rPr lang="en-US" sz="1600">
                <a:ea typeface="+mn-lt"/>
                <a:cs typeface="+mn-lt"/>
              </a:rPr>
              <a:t> Fixed a CLI bug where </a:t>
            </a:r>
            <a:r>
              <a:rPr lang="en-US" sz="1600">
                <a:latin typeface="Consolas"/>
              </a:rPr>
              <a:t>--min-</a:t>
            </a:r>
            <a:r>
              <a:rPr lang="en-US" sz="1600" err="1">
                <a:latin typeface="Consolas"/>
              </a:rPr>
              <a:t>freq</a:t>
            </a:r>
            <a:r>
              <a:rPr lang="en-US" sz="1600">
                <a:ea typeface="+mn-lt"/>
                <a:cs typeface="+mn-lt"/>
              </a:rPr>
              <a:t> was accepted but ignored in inline training mode.</a:t>
            </a:r>
            <a:endParaRPr lang="en-US"/>
          </a:p>
          <a:p>
            <a:pPr>
              <a:buFont typeface="Arial"/>
              <a:buChar char="•"/>
            </a:pPr>
            <a:r>
              <a:rPr lang="en-US" sz="1600" b="1">
                <a:ea typeface="+mn-lt"/>
                <a:cs typeface="+mn-lt"/>
              </a:rPr>
              <a:t>Task 18:</a:t>
            </a:r>
            <a:r>
              <a:rPr lang="en-US" sz="1600">
                <a:ea typeface="+mn-lt"/>
                <a:cs typeface="+mn-lt"/>
              </a:rPr>
              <a:t> Explained why this minimal fix was chosen instead of a larger refactor.</a:t>
            </a:r>
            <a:endParaRPr lang="en-US"/>
          </a:p>
          <a:p>
            <a:pPr>
              <a:buFont typeface="Arial"/>
              <a:buChar char="•"/>
            </a:pPr>
            <a:r>
              <a:rPr lang="en-US" sz="1600" b="1">
                <a:ea typeface="+mn-lt"/>
                <a:cs typeface="+mn-lt"/>
              </a:rPr>
              <a:t>Task 16:</a:t>
            </a:r>
            <a:r>
              <a:rPr lang="en-US" sz="1600">
                <a:ea typeface="+mn-lt"/>
                <a:cs typeface="+mn-lt"/>
              </a:rPr>
              <a:t> Not attempted.</a:t>
            </a:r>
            <a:endParaRPr lang="en-US"/>
          </a:p>
          <a:p>
            <a:pPr>
              <a:buNone/>
            </a:pPr>
            <a:r>
              <a:rPr lang="en-US"/>
              <a:t>Problem (Task 17)</a:t>
            </a:r>
          </a:p>
          <a:p>
            <a:pPr>
              <a:buFont typeface="Arial"/>
            </a:pPr>
            <a:r>
              <a:rPr lang="en-US" sz="1600">
                <a:ea typeface="+mn-lt"/>
                <a:cs typeface="+mn-lt"/>
              </a:rPr>
              <a:t>In inline mode (</a:t>
            </a:r>
            <a:r>
              <a:rPr lang="en-US" sz="1600">
                <a:latin typeface="Consolas"/>
                <a:ea typeface="+mn-lt"/>
                <a:cs typeface="+mn-lt"/>
              </a:rPr>
              <a:t>--corpus --model --output</a:t>
            </a:r>
            <a:r>
              <a:rPr lang="en-US" sz="1600">
                <a:ea typeface="+mn-lt"/>
                <a:cs typeface="+mn-lt"/>
              </a:rPr>
              <a:t>), the CLI built a </a:t>
            </a:r>
            <a:r>
              <a:rPr lang="en-US" sz="1600" b="1">
                <a:ea typeface="+mn-lt"/>
                <a:cs typeface="+mn-lt"/>
              </a:rPr>
              <a:t>frozen </a:t>
            </a:r>
            <a:r>
              <a:rPr lang="en-US" sz="1600" b="1" err="1">
                <a:ea typeface="+mn-lt"/>
                <a:cs typeface="+mn-lt"/>
              </a:rPr>
              <a:t>Pydantic</a:t>
            </a:r>
            <a:r>
              <a:rPr lang="en-US" sz="1600" b="1">
                <a:ea typeface="+mn-lt"/>
                <a:cs typeface="+mn-lt"/>
              </a:rPr>
              <a:t> </a:t>
            </a:r>
            <a:r>
              <a:rPr lang="en-US" sz="1600" b="1" err="1">
                <a:latin typeface="Consolas"/>
                <a:ea typeface="+mn-lt"/>
                <a:cs typeface="+mn-lt"/>
              </a:rPr>
              <a:t>TokenizerConfig</a:t>
            </a:r>
            <a:r>
              <a:rPr lang="en-US" sz="1600">
                <a:ea typeface="+mn-lt"/>
                <a:cs typeface="+mn-lt"/>
              </a:rPr>
              <a:t>.</a:t>
            </a:r>
            <a:endParaRPr lang="en-US"/>
          </a:p>
          <a:p>
            <a:pPr>
              <a:buFont typeface="Arial"/>
            </a:pPr>
            <a:r>
              <a:rPr lang="en-US" sz="1600">
                <a:ea typeface="+mn-lt"/>
                <a:cs typeface="+mn-lt"/>
              </a:rPr>
              <a:t>The code tried to </a:t>
            </a:r>
            <a:r>
              <a:rPr lang="en-US" sz="1600" b="1">
                <a:ea typeface="+mn-lt"/>
                <a:cs typeface="+mn-lt"/>
              </a:rPr>
              <a:t>mutate </a:t>
            </a:r>
            <a:r>
              <a:rPr lang="en-US" sz="1600" b="1" err="1">
                <a:latin typeface="Consolas"/>
                <a:ea typeface="+mn-lt"/>
                <a:cs typeface="+mn-lt"/>
              </a:rPr>
              <a:t>tok_config.trainer.min_frequency</a:t>
            </a:r>
            <a:r>
              <a:rPr lang="en-US" sz="1600" b="1">
                <a:ea typeface="+mn-lt"/>
                <a:cs typeface="+mn-lt"/>
              </a:rPr>
              <a:t> directly</a:t>
            </a:r>
            <a:r>
              <a:rPr lang="en-US" sz="1600"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</a:pPr>
            <a:r>
              <a:rPr lang="en-US" sz="1600">
                <a:ea typeface="+mn-lt"/>
                <a:cs typeface="+mn-lt"/>
              </a:rPr>
              <a:t>Because configs are </a:t>
            </a:r>
            <a:r>
              <a:rPr lang="en-US" sz="1600" b="1">
                <a:ea typeface="+mn-lt"/>
                <a:cs typeface="+mn-lt"/>
              </a:rPr>
              <a:t>immutable</a:t>
            </a:r>
            <a:r>
              <a:rPr lang="en-US" sz="1600">
                <a:ea typeface="+mn-lt"/>
                <a:cs typeface="+mn-lt"/>
              </a:rPr>
              <a:t>, the override was ignored.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</a:pPr>
            <a:r>
              <a:rPr lang="en-US" sz="1600">
                <a:ea typeface="+mn-lt"/>
                <a:cs typeface="+mn-lt"/>
              </a:rPr>
              <a:t>Result: Trainer continued using the </a:t>
            </a:r>
            <a:r>
              <a:rPr lang="en-US" sz="1600" b="1">
                <a:ea typeface="+mn-lt"/>
                <a:cs typeface="+mn-lt"/>
              </a:rPr>
              <a:t>default </a:t>
            </a:r>
            <a:r>
              <a:rPr lang="en-US" sz="1600" b="1" err="1">
                <a:latin typeface="Consolas"/>
                <a:ea typeface="+mn-lt"/>
                <a:cs typeface="+mn-lt"/>
              </a:rPr>
              <a:t>min_frequency</a:t>
            </a:r>
            <a:r>
              <a:rPr lang="en-US" sz="1600">
                <a:ea typeface="+mn-lt"/>
                <a:cs typeface="+mn-lt"/>
              </a:rPr>
              <a:t>.</a:t>
            </a:r>
            <a:endParaRPr lang="en-US"/>
          </a:p>
          <a:p>
            <a:pPr>
              <a:buNone/>
            </a:pPr>
            <a:r>
              <a:rPr lang="en-US"/>
              <a:t>Fix Implemented</a:t>
            </a:r>
          </a:p>
          <a:p>
            <a:pPr>
              <a:buFont typeface="Arial"/>
            </a:pPr>
            <a:r>
              <a:rPr lang="en-US" sz="1600" b="1">
                <a:ea typeface="+mn-lt"/>
                <a:cs typeface="+mn-lt"/>
              </a:rPr>
              <a:t>File: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>
                <a:latin typeface="Consolas"/>
                <a:ea typeface="+mn-lt"/>
                <a:cs typeface="+mn-lt"/>
              </a:rPr>
              <a:t>src/abctokz/cli/train.py</a:t>
            </a:r>
            <a:endParaRPr lang="en-US"/>
          </a:p>
          <a:p>
            <a:pPr>
              <a:buFont typeface="Arial"/>
            </a:pPr>
            <a:r>
              <a:rPr lang="en-US" sz="1600">
                <a:ea typeface="+mn-lt"/>
                <a:cs typeface="+mn-lt"/>
              </a:rPr>
              <a:t>Replaced in-place mutation with </a:t>
            </a:r>
            <a:r>
              <a:rPr lang="en-US" sz="1600" b="1" err="1">
                <a:ea typeface="+mn-lt"/>
                <a:cs typeface="+mn-lt"/>
              </a:rPr>
              <a:t>Pydantic</a:t>
            </a:r>
            <a:r>
              <a:rPr lang="en-US" sz="1600" b="1">
                <a:ea typeface="+mn-lt"/>
                <a:cs typeface="+mn-lt"/>
              </a:rPr>
              <a:t> immutable update</a:t>
            </a:r>
            <a:r>
              <a:rPr lang="en-US" sz="1600">
                <a:ea typeface="+mn-lt"/>
                <a:cs typeface="+mn-lt"/>
              </a:rPr>
              <a:t> using:</a:t>
            </a:r>
            <a:endParaRPr lang="en-US"/>
          </a:p>
          <a:p>
            <a:pPr indent="0">
              <a:buNone/>
            </a:pPr>
            <a:r>
              <a:rPr lang="en-US" sz="1600" err="1">
                <a:latin typeface="Consolas"/>
                <a:ea typeface="+mn-lt"/>
                <a:cs typeface="+mn-lt"/>
              </a:rPr>
              <a:t>tok_config</a:t>
            </a:r>
            <a:r>
              <a:rPr lang="en-US" sz="1600">
                <a:latin typeface="Consolas"/>
                <a:ea typeface="+mn-lt"/>
                <a:cs typeface="+mn-lt"/>
              </a:rPr>
              <a:t> = </a:t>
            </a:r>
            <a:r>
              <a:rPr lang="en-US" sz="1600" err="1">
                <a:latin typeface="Consolas"/>
                <a:ea typeface="+mn-lt"/>
                <a:cs typeface="+mn-lt"/>
              </a:rPr>
              <a:t>tok_config.model_copy</a:t>
            </a:r>
            <a:r>
              <a:rPr lang="en-US" sz="1600">
                <a:latin typeface="Consolas"/>
                <a:ea typeface="+mn-lt"/>
                <a:cs typeface="+mn-lt"/>
              </a:rPr>
              <a:t>(update={...})
</a:t>
            </a:r>
            <a:endParaRPr lang="en-US"/>
          </a:p>
          <a:p>
            <a:pPr>
              <a:buFont typeface="Arial"/>
            </a:pPr>
            <a:r>
              <a:rPr lang="en-US" sz="1600">
                <a:ea typeface="+mn-lt"/>
                <a:cs typeface="+mn-lt"/>
              </a:rPr>
              <a:t>Applied only for trainers that support </a:t>
            </a:r>
            <a:r>
              <a:rPr lang="en-US" sz="1600" err="1">
                <a:latin typeface="Consolas"/>
                <a:ea typeface="+mn-lt"/>
                <a:cs typeface="+mn-lt"/>
              </a:rPr>
              <a:t>min_frequency</a:t>
            </a:r>
            <a:r>
              <a:rPr lang="en-US" sz="1600">
                <a:ea typeface="+mn-lt"/>
                <a:cs typeface="+mn-lt"/>
              </a:rPr>
              <a:t>:</a:t>
            </a:r>
            <a:endParaRPr lang="en-US">
              <a:ea typeface="+mn-lt"/>
              <a:cs typeface="+mn-lt"/>
            </a:endParaRPr>
          </a:p>
          <a:p>
            <a:pPr marL="971550" lvl="1" indent="-285750">
              <a:buFont typeface="Arial"/>
            </a:pPr>
            <a:r>
              <a:rPr lang="en-US" sz="1600" b="1" err="1">
                <a:ea typeface="+mn-lt"/>
                <a:cs typeface="+mn-lt"/>
              </a:rPr>
              <a:t>WordLevel</a:t>
            </a:r>
            <a:endParaRPr lang="en-US" err="1"/>
          </a:p>
          <a:p>
            <a:pPr marL="971550" lvl="1" indent="-285750">
              <a:buFont typeface="Arial"/>
            </a:pPr>
            <a:r>
              <a:rPr lang="en-US" sz="1600" b="1">
                <a:ea typeface="+mn-lt"/>
                <a:cs typeface="+mn-lt"/>
              </a:rPr>
              <a:t>BPE</a:t>
            </a:r>
            <a:endParaRPr lang="en-US"/>
          </a:p>
          <a:p>
            <a:pPr lvl="1">
              <a:buNone/>
            </a:pPr>
            <a:r>
              <a:rPr lang="en-US"/>
              <a:t>Why This Approach (Task 18)</a:t>
            </a:r>
          </a:p>
          <a:p>
            <a:pPr>
              <a:buFont typeface="Arial"/>
            </a:pPr>
            <a:r>
              <a:rPr lang="en-US" sz="1600" b="1">
                <a:ea typeface="+mn-lt"/>
                <a:cs typeface="+mn-lt"/>
              </a:rPr>
              <a:t>Minimal change</a:t>
            </a:r>
            <a:r>
              <a:rPr lang="en-US" sz="1600">
                <a:ea typeface="+mn-lt"/>
                <a:cs typeface="+mn-lt"/>
              </a:rPr>
              <a:t> – only CLI wiring modified.</a:t>
            </a:r>
            <a:endParaRPr lang="en-US"/>
          </a:p>
          <a:p>
            <a:pPr>
              <a:buFont typeface="Arial"/>
            </a:pPr>
            <a:r>
              <a:rPr lang="en-US" sz="1600" b="1">
                <a:ea typeface="+mn-lt"/>
                <a:cs typeface="+mn-lt"/>
              </a:rPr>
              <a:t>Low risk</a:t>
            </a:r>
            <a:r>
              <a:rPr lang="en-US" sz="1600">
                <a:ea typeface="+mn-lt"/>
                <a:cs typeface="+mn-lt"/>
              </a:rPr>
              <a:t> – no changes to trainer algorithms.</a:t>
            </a:r>
            <a:endParaRPr lang="en-US"/>
          </a:p>
          <a:p>
            <a:pPr>
              <a:buFont typeface="Arial"/>
            </a:pPr>
            <a:r>
              <a:rPr lang="en-US" sz="1600" b="1">
                <a:ea typeface="+mn-lt"/>
                <a:cs typeface="+mn-lt"/>
              </a:rPr>
              <a:t>High impact</a:t>
            </a:r>
            <a:r>
              <a:rPr lang="en-US" sz="1600">
                <a:ea typeface="+mn-lt"/>
                <a:cs typeface="+mn-lt"/>
              </a:rPr>
              <a:t> – CLI flag now behaves as expected.</a:t>
            </a:r>
            <a:endParaRPr lang="en-US"/>
          </a:p>
          <a:p>
            <a:pPr>
              <a:buFont typeface="Arial"/>
            </a:pPr>
            <a:r>
              <a:rPr lang="en-US" sz="1600" b="1">
                <a:ea typeface="+mn-lt"/>
                <a:cs typeface="+mn-lt"/>
              </a:rPr>
              <a:t>YAML config mode remains unchanged.</a:t>
            </a:r>
            <a:endParaRPr lang="en-US"/>
          </a:p>
          <a:p>
            <a:pPr>
              <a:buNone/>
            </a:pPr>
            <a:r>
              <a:rPr lang="en-US"/>
              <a:t>What We Avoided</a:t>
            </a:r>
          </a:p>
          <a:p>
            <a:pPr>
              <a:buFont typeface="Arial"/>
            </a:pPr>
            <a:r>
              <a:rPr lang="en-US" sz="1600">
                <a:ea typeface="+mn-lt"/>
                <a:cs typeface="+mn-lt"/>
              </a:rPr>
              <a:t>No large CLI refactor</a:t>
            </a:r>
            <a:endParaRPr lang="en-US"/>
          </a:p>
          <a:p>
            <a:pPr>
              <a:buFont typeface="Arial"/>
            </a:pPr>
            <a:r>
              <a:rPr lang="en-US" sz="1600">
                <a:ea typeface="+mn-lt"/>
                <a:cs typeface="+mn-lt"/>
              </a:rPr>
              <a:t>No trainer logic changes</a:t>
            </a:r>
            <a:endParaRPr lang="en-US"/>
          </a:p>
          <a:p>
            <a:pPr>
              <a:buFont typeface="Arial"/>
            </a:pPr>
            <a:r>
              <a:rPr lang="en-US" sz="1600">
                <a:ea typeface="+mn-lt"/>
                <a:cs typeface="+mn-lt"/>
              </a:rPr>
              <a:t>No config system redesign</a:t>
            </a:r>
            <a:endParaRPr lang="en-US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67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5ACBD-342A-AF99-D69C-98D98CAE9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0654"/>
            <a:ext cx="10515600" cy="1325563"/>
          </a:xfrm>
        </p:spPr>
        <p:txBody>
          <a:bodyPr/>
          <a:lstStyle/>
          <a:p>
            <a:r>
              <a:rPr lang="en-US"/>
              <a:t>List up to 5 things that you did not understand about the codebase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617D9-D098-0BE5-49BB-986E821DE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5625"/>
            <a:ext cx="10896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•</a:t>
            </a:r>
            <a:r>
              <a:rPr lang="en-US" sz="1600" dirty="0">
                <a:ea typeface="+mn-lt"/>
                <a:cs typeface="+mn-lt"/>
              </a:rPr>
              <a:t> Understand training internals of </a:t>
            </a:r>
            <a:r>
              <a:rPr lang="en-US" sz="1600" b="1" dirty="0" err="1">
                <a:ea typeface="+mn-lt"/>
                <a:cs typeface="+mn-lt"/>
              </a:rPr>
              <a:t>WordLevel</a:t>
            </a:r>
            <a:r>
              <a:rPr lang="en-US" sz="1600" b="1" dirty="0">
                <a:ea typeface="+mn-lt"/>
                <a:cs typeface="+mn-lt"/>
              </a:rPr>
              <a:t>, BPE, and Unigram</a:t>
            </a:r>
            <a:r>
              <a:rPr lang="en-US" sz="1600" dirty="0">
                <a:ea typeface="+mn-lt"/>
                <a:cs typeface="+mn-lt"/>
              </a:rPr>
              <a:t> to see exactly why tokens are added, kept, or dropped.</a:t>
            </a:r>
          </a:p>
          <a:p>
            <a:pPr>
              <a:buNone/>
            </a:pPr>
            <a:r>
              <a:rPr lang="en-US" sz="1600" dirty="0">
                <a:ea typeface="+mn-lt"/>
                <a:cs typeface="+mn-lt"/>
              </a:rPr>
              <a:t>• Analyze how </a:t>
            </a:r>
            <a:r>
              <a:rPr lang="en-US" sz="1600" b="1" dirty="0" err="1">
                <a:ea typeface="+mn-lt"/>
                <a:cs typeface="+mn-lt"/>
              </a:rPr>
              <a:t>pretokenizers</a:t>
            </a:r>
            <a:r>
              <a:rPr lang="en-US" sz="1600" b="1" dirty="0">
                <a:ea typeface="+mn-lt"/>
                <a:cs typeface="+mn-lt"/>
              </a:rPr>
              <a:t> handle mixed scripts (Latin, Devanagari, punctuation)</a:t>
            </a:r>
            <a:r>
              <a:rPr lang="en-US" sz="1600" dirty="0">
                <a:ea typeface="+mn-lt"/>
                <a:cs typeface="+mn-lt"/>
              </a:rPr>
              <a:t> and detect inconsistent splits.</a:t>
            </a:r>
            <a:endParaRPr lang="en-US" sz="1600" dirty="0"/>
          </a:p>
          <a:p>
            <a:pPr>
              <a:buNone/>
            </a:pPr>
            <a:r>
              <a:rPr lang="en-US" sz="1600" dirty="0">
                <a:ea typeface="+mn-lt"/>
                <a:cs typeface="+mn-lt"/>
              </a:rPr>
              <a:t>• Compare </a:t>
            </a:r>
            <a:r>
              <a:rPr lang="en-US" sz="1600" b="1" dirty="0">
                <a:ea typeface="+mn-lt"/>
                <a:cs typeface="+mn-lt"/>
              </a:rPr>
              <a:t>Hugging Face and </a:t>
            </a:r>
            <a:r>
              <a:rPr lang="en-US" sz="1600" b="1" dirty="0" err="1">
                <a:ea typeface="+mn-lt"/>
                <a:cs typeface="+mn-lt"/>
              </a:rPr>
              <a:t>SentencePiece</a:t>
            </a:r>
            <a:r>
              <a:rPr lang="en-US" sz="1600" b="1" dirty="0">
                <a:ea typeface="+mn-lt"/>
                <a:cs typeface="+mn-lt"/>
              </a:rPr>
              <a:t> adapters</a:t>
            </a:r>
            <a:r>
              <a:rPr lang="en-US" sz="1600" dirty="0">
                <a:ea typeface="+mn-lt"/>
                <a:cs typeface="+mn-lt"/>
              </a:rPr>
              <a:t> with the native implementation to find token/decoding differences.</a:t>
            </a:r>
            <a:endParaRPr lang="en-US" sz="1600" dirty="0"/>
          </a:p>
          <a:p>
            <a:pPr>
              <a:buNone/>
            </a:pPr>
            <a:r>
              <a:rPr lang="en-US" sz="1600" dirty="0">
                <a:ea typeface="+mn-lt"/>
                <a:cs typeface="+mn-lt"/>
              </a:rPr>
              <a:t>• Verify whether the </a:t>
            </a:r>
            <a:r>
              <a:rPr lang="en-US" sz="1600" b="1" dirty="0">
                <a:ea typeface="+mn-lt"/>
                <a:cs typeface="+mn-lt"/>
              </a:rPr>
              <a:t>offset mapping after </a:t>
            </a:r>
            <a:r>
              <a:rPr lang="en-US" sz="1600" b="1" dirty="0" err="1">
                <a:ea typeface="+mn-lt"/>
                <a:cs typeface="+mn-lt"/>
              </a:rPr>
              <a:t>pretokenization</a:t>
            </a:r>
            <a:r>
              <a:rPr lang="en-US" sz="1600" dirty="0">
                <a:ea typeface="+mn-lt"/>
                <a:cs typeface="+mn-lt"/>
              </a:rPr>
              <a:t> correctly points to original text spans.</a:t>
            </a:r>
            <a:endParaRPr lang="en-US" sz="1600" dirty="0"/>
          </a:p>
          <a:p>
            <a:pPr>
              <a:buNone/>
            </a:pPr>
            <a:r>
              <a:rPr lang="en-US" sz="1600" dirty="0">
                <a:ea typeface="+mn-lt"/>
                <a:cs typeface="+mn-lt"/>
              </a:rPr>
              <a:t>• Check </a:t>
            </a:r>
            <a:r>
              <a:rPr lang="en-US" sz="1600" b="1" dirty="0">
                <a:ea typeface="+mn-lt"/>
                <a:cs typeface="+mn-lt"/>
              </a:rPr>
              <a:t>training determinism</a:t>
            </a:r>
            <a:r>
              <a:rPr lang="en-US" sz="1600" dirty="0">
                <a:ea typeface="+mn-lt"/>
                <a:cs typeface="+mn-lt"/>
              </a:rPr>
              <a:t> by identifying steps that could introduce randomness across runs.</a:t>
            </a:r>
            <a:endParaRPr lang="en-US" sz="1600" dirty="0"/>
          </a:p>
          <a:p>
            <a:pPr marL="0" indent="0">
              <a:buNone/>
            </a:pPr>
            <a:endParaRPr lang="en-US"/>
          </a:p>
          <a:p>
            <a:r>
              <a:rPr lang="en-US"/>
              <a:t>TOKENS USED : 155.5 K</a:t>
            </a:r>
          </a:p>
          <a:p>
            <a:r>
              <a:rPr lang="en-US"/>
              <a:t>THESE ARE THE OVERALL TOKENS OF ALL MEMBERS</a:t>
            </a:r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6B3E7BC-D5CC-2BBC-1752-4F5CE8BCB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9579" y="3068257"/>
            <a:ext cx="2562225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634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Black Lotus</vt:lpstr>
      <vt:lpstr>What are tokens and what is tokenization?</vt:lpstr>
      <vt:lpstr>Task 3: Comparison of tokens</vt:lpstr>
      <vt:lpstr>Task 16</vt:lpstr>
      <vt:lpstr>List up to 5 things that you did not understand about the codebase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Kapil Nichani</dc:creator>
  <cp:revision>155</cp:revision>
  <dcterms:created xsi:type="dcterms:W3CDTF">2026-03-13T02:36:39Z</dcterms:created>
  <dcterms:modified xsi:type="dcterms:W3CDTF">2026-03-14T00:14:19Z</dcterms:modified>
</cp:coreProperties>
</file>